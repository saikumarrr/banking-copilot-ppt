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7" r:id="rId3"/>
    <p:sldId id="258" r:id="rId4"/>
    <p:sldId id="260" r:id="rId5"/>
    <p:sldId id="268" r:id="rId6"/>
    <p:sldId id="270" r:id="rId7"/>
    <p:sldId id="264" r:id="rId8"/>
    <p:sldId id="262" r:id="rId9"/>
    <p:sldId id="266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10" autoAdjust="0"/>
  </p:normalViewPr>
  <p:slideViewPr>
    <p:cSldViewPr snapToGrid="0" snapToObjects="1">
      <p:cViewPr>
        <p:scale>
          <a:sx n="100" d="100"/>
          <a:sy n="100" d="100"/>
        </p:scale>
        <p:origin x="950" y="27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6588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2B95F-D69E-BFDF-E1F1-5989D20EF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672BD-C277-4D58-D570-10B448DE6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1459BE-60F7-1901-8697-E23056393E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4F073-7650-5126-636E-C910D8BBBB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524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Shape 1"/>
          <p:cNvSpPr/>
          <p:nvPr/>
        </p:nvSpPr>
        <p:spPr>
          <a:xfrm>
            <a:off x="5721790" y="262549"/>
            <a:ext cx="3213980" cy="2718395"/>
          </a:xfrm>
          <a:prstGeom prst="ellipse">
            <a:avLst/>
          </a:prstGeom>
          <a:solidFill>
            <a:srgbClr val="1E3A5F"/>
          </a:solidFill>
          <a:ln w="19050">
            <a:solidFill>
              <a:srgbClr val="00BFA6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706" y="327192"/>
            <a:ext cx="2194560" cy="2194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749808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AI Copilot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320040" y="175564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(BFSI)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320040" y="2487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C5D5E8"/>
                </a:solidFill>
              </a:rPr>
              <a:t>Self-Reflective RAG (CRAG) · Compliance Guardrails · Regulatory Q&amp;A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20040" y="2944368"/>
            <a:ext cx="5029200" cy="36576"/>
          </a:xfrm>
          <a:prstGeom prst="rect">
            <a:avLst/>
          </a:prstGeom>
          <a:solidFill>
            <a:srgbClr val="008E7B"/>
          </a:solidFill>
          <a:ln/>
        </p:spPr>
      </p:sp>
      <p:sp>
        <p:nvSpPr>
          <p:cNvPr id="10" name="Shape 7"/>
          <p:cNvSpPr/>
          <p:nvPr/>
        </p:nvSpPr>
        <p:spPr>
          <a:xfrm>
            <a:off x="320040" y="3145536"/>
            <a:ext cx="1828800" cy="347472"/>
          </a:xfrm>
          <a:prstGeom prst="roundRect">
            <a:avLst>
              <a:gd name="adj" fmla="val 13158"/>
            </a:avLst>
          </a:prstGeom>
          <a:solidFill>
            <a:srgbClr val="1E3A5F"/>
          </a:solidFill>
          <a:ln w="12700">
            <a:solidFill>
              <a:srgbClr val="00BFA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314553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ECDC4"/>
                </a:solidFill>
              </a:rPr>
              <a:t>Loan Eligibility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331720" y="3145536"/>
            <a:ext cx="1828800" cy="347472"/>
          </a:xfrm>
          <a:prstGeom prst="roundRect">
            <a:avLst>
              <a:gd name="adj" fmla="val 13158"/>
            </a:avLst>
          </a:prstGeom>
          <a:solidFill>
            <a:srgbClr val="1E3A5F"/>
          </a:solidFill>
          <a:ln w="12700">
            <a:solidFill>
              <a:srgbClr val="00BF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31720" y="314553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ECDC4"/>
                </a:solidFill>
              </a:rPr>
              <a:t>KYC Queries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343400" y="3145536"/>
            <a:ext cx="1828800" cy="347472"/>
          </a:xfrm>
          <a:prstGeom prst="roundRect">
            <a:avLst>
              <a:gd name="adj" fmla="val 13158"/>
            </a:avLst>
          </a:prstGeom>
          <a:solidFill>
            <a:srgbClr val="1E3A5F"/>
          </a:solidFill>
          <a:ln w="12700">
            <a:solidFill>
              <a:srgbClr val="00BFA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43400" y="314553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ECDC4"/>
                </a:solidFill>
              </a:rPr>
              <a:t>Fraud Alerts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355080" y="3145536"/>
            <a:ext cx="1828800" cy="347472"/>
          </a:xfrm>
          <a:prstGeom prst="roundRect">
            <a:avLst>
              <a:gd name="adj" fmla="val 13158"/>
            </a:avLst>
          </a:prstGeom>
          <a:solidFill>
            <a:srgbClr val="1E3A5F"/>
          </a:solidFill>
          <a:ln w="12700">
            <a:solidFill>
              <a:srgbClr val="00BFA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314553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ECDC4"/>
                </a:solidFill>
              </a:rPr>
              <a:t>Regulatory Compliance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0040" y="3703320"/>
            <a:ext cx="5029200" cy="82296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31920"/>
            <a:ext cx="365760" cy="36576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60120" y="3886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5D5E8"/>
                </a:solidFill>
              </a:rPr>
              <a:t>Team of 6  ·  LangChain · FastAPI · FAISS · Streamlit · Docker · AWS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6012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FA6"/>
                </a:solidFill>
              </a:rPr>
              <a:t>Stack: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960120" y="42062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8BA4BF"/>
                </a:solidFill>
              </a:rPr>
              <a:t>Domain: Retail Banking / BFSI  ·  Pattern: Self-Reflective / Corrective RAG (CRAG)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B2E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BFA6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97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Why Banks Need a Smarter AI Copilot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56032" y="1188720"/>
            <a:ext cx="2834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188720"/>
            <a:ext cx="64008" cy="1627632"/>
          </a:xfrm>
          <a:prstGeom prst="rect">
            <a:avLst/>
          </a:prstGeom>
          <a:solidFill>
            <a:srgbClr val="F5A623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344168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131673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733"/>
                </a:solidFill>
              </a:rPr>
              <a:t>Loan Eligibility Confusion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20624" y="1792224"/>
            <a:ext cx="25786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5A73"/>
                </a:solidFill>
              </a:rPr>
              <a:t>Customers misunderstand criteria — credit score, income ratios, employment type — leading to wasted applications.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36976" y="1188720"/>
            <a:ext cx="2834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36976" y="1188720"/>
            <a:ext cx="64008" cy="1627632"/>
          </a:xfrm>
          <a:prstGeom prst="rect">
            <a:avLst/>
          </a:prstGeom>
          <a:solidFill>
            <a:srgbClr val="00BFA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34416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803904" y="131673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733"/>
                </a:solidFill>
              </a:rPr>
              <a:t>KYC Document Uncertainty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401568" y="1792224"/>
            <a:ext cx="25786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5A73"/>
                </a:solidFill>
              </a:rPr>
              <a:t>Agents &amp; customers unclear on which documents are required for different account types and KYC thresholds.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217920" y="1188720"/>
            <a:ext cx="2834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188720"/>
            <a:ext cx="64008" cy="1627632"/>
          </a:xfrm>
          <a:prstGeom prst="rect">
            <a:avLst/>
          </a:prstGeom>
          <a:solidFill>
            <a:srgbClr val="E53E3E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344168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84848" y="131673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733"/>
                </a:solidFill>
              </a:rPr>
              <a:t>Fraud Alert Opacity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6382512" y="1792224"/>
            <a:ext cx="25786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5A73"/>
                </a:solidFill>
              </a:rPr>
              <a:t>Blocked transactions get minimal explanation. Customers need clear alert types and resolution steps.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256032" y="2999232"/>
            <a:ext cx="2834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256032" y="2999232"/>
            <a:ext cx="64008" cy="1627632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3154680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22960" y="31272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733"/>
                </a:solidFill>
              </a:rPr>
              <a:t>Rate &amp; Fee Complexity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420624" y="3602736"/>
            <a:ext cx="25786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5A73"/>
                </a:solidFill>
              </a:rPr>
              <a:t>Interest rates, processing fees, prepayment penalties scattered across documents — hard to retrieve accurately.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3236976" y="2999232"/>
            <a:ext cx="2834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236976" y="2999232"/>
            <a:ext cx="64008" cy="1627632"/>
          </a:xfrm>
          <a:prstGeom prst="rect">
            <a:avLst/>
          </a:prstGeom>
          <a:solidFill>
            <a:srgbClr val="F5A623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1568" y="3154680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803904" y="31272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733"/>
                </a:solidFill>
              </a:rPr>
              <a:t>Regulatory Disclosure Gaps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3401568" y="3602736"/>
            <a:ext cx="25786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5A73"/>
                </a:solidFill>
              </a:rPr>
              <a:t>RBI guidelines, DPDPA, AML policy buried in 200+ pages. Compliance officers need instant, cited answers.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6217920" y="2999232"/>
            <a:ext cx="2834640" cy="162763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217920" y="2999232"/>
            <a:ext cx="64008" cy="1627632"/>
          </a:xfrm>
          <a:prstGeom prst="rect">
            <a:avLst/>
          </a:prstGeom>
          <a:solidFill>
            <a:srgbClr val="E53E3E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2512" y="3154680"/>
            <a:ext cx="347472" cy="34747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784848" y="31272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733"/>
                </a:solidFill>
              </a:rPr>
              <a:t>Hallucination = Regulatory Risk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6382512" y="3602736"/>
            <a:ext cx="25786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5A73"/>
                </a:solidFill>
              </a:rPr>
              <a:t>A standard RAG citing home loan LTV for a personal loan query isn't just a UX failure — it's a compliance breach.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194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B2E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BFA6"/>
                </a:solidFill>
              </a:rPr>
              <a:t>OUR 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97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Banking AI Copilot — Self-Reflective Architecture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56032" y="1170432"/>
            <a:ext cx="8631936" cy="685800"/>
          </a:xfrm>
          <a:prstGeom prst="rect">
            <a:avLst/>
          </a:prstGeom>
          <a:solidFill>
            <a:srgbClr val="1E3A5F"/>
          </a:solidFill>
          <a:ln w="19050">
            <a:solidFill>
              <a:srgbClr val="00BFA6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61872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21615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C5D5E8"/>
                </a:solidFill>
              </a:rPr>
              <a:t>Key Differentiator: The agent GRADES its own retrieved chunks — if relevance is insufficient, it REWRITES the query and RE-RETRIEVES (max 2 loops) before generating any response. No hallucinated policy, no fabricated rates.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6032" y="2029968"/>
            <a:ext cx="1600200" cy="2560320"/>
          </a:xfrm>
          <a:prstGeom prst="rect">
            <a:avLst/>
          </a:prstGeom>
          <a:solidFill>
            <a:srgbClr val="162234"/>
          </a:solidFill>
          <a:ln w="19050">
            <a:solidFill>
              <a:srgbClr val="4ECD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6032" y="2029968"/>
            <a:ext cx="16002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8"/>
          <p:cNvSpPr/>
          <p:nvPr/>
        </p:nvSpPr>
        <p:spPr>
          <a:xfrm>
            <a:off x="256032" y="20299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ECDC4"/>
                </a:solidFill>
              </a:rPr>
              <a:t>01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31520" y="2084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A4BF"/>
                </a:solidFill>
              </a:rPr>
              <a:t>Layer 01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56032" y="252374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Streamlit UI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47472" y="3035808"/>
            <a:ext cx="1426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5D5E8"/>
                </a:solidFill>
              </a:rPr>
              <a:t>Chat interface with confidence indicator &amp; compliance panel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993392" y="2029968"/>
            <a:ext cx="1600200" cy="2560320"/>
          </a:xfrm>
          <a:prstGeom prst="rect">
            <a:avLst/>
          </a:prstGeom>
          <a:solidFill>
            <a:srgbClr val="162234"/>
          </a:solidFill>
          <a:ln w="19050">
            <a:solidFill>
              <a:srgbClr val="00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993392" y="2029968"/>
            <a:ext cx="16002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4"/>
          <p:cNvSpPr/>
          <p:nvPr/>
        </p:nvSpPr>
        <p:spPr>
          <a:xfrm>
            <a:off x="1993392" y="20299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FA6"/>
                </a:solidFill>
              </a:rPr>
              <a:t>02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2468880" y="2084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A4BF"/>
                </a:solidFill>
              </a:rPr>
              <a:t>Layer 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1993392" y="252374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FastAPI Layer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084832" y="3035808"/>
            <a:ext cx="1426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5D5E8"/>
                </a:solidFill>
              </a:rPr>
              <a:t>POST /chat endpoint, request validation, session management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730752" y="2029968"/>
            <a:ext cx="1600200" cy="2560320"/>
          </a:xfrm>
          <a:prstGeom prst="rect">
            <a:avLst/>
          </a:prstGeom>
          <a:solidFill>
            <a:srgbClr val="162234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730752" y="2029968"/>
            <a:ext cx="16002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3" name="Text 20"/>
          <p:cNvSpPr/>
          <p:nvPr/>
        </p:nvSpPr>
        <p:spPr>
          <a:xfrm>
            <a:off x="3730752" y="20299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</a:rPr>
              <a:t>03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206240" y="2084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A4BF"/>
                </a:solidFill>
              </a:rPr>
              <a:t>Layer 03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730752" y="252374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CRAG Agent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3822192" y="3035808"/>
            <a:ext cx="1426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5D5E8"/>
                </a:solidFill>
              </a:rPr>
              <a:t>Grade → Rewrite → Re-Retrieve loop (max 2x) + web search fallback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468112" y="2029968"/>
            <a:ext cx="1600200" cy="2560320"/>
          </a:xfrm>
          <a:prstGeom prst="rect">
            <a:avLst/>
          </a:prstGeom>
          <a:solidFill>
            <a:srgbClr val="162234"/>
          </a:solidFill>
          <a:ln w="19050">
            <a:solidFill>
              <a:srgbClr val="00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468112" y="2029968"/>
            <a:ext cx="16002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9" name="Text 26"/>
          <p:cNvSpPr/>
          <p:nvPr/>
        </p:nvSpPr>
        <p:spPr>
          <a:xfrm>
            <a:off x="5468112" y="20299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FA6"/>
                </a:solidFill>
              </a:rPr>
              <a:t>04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5943600" y="2084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A4BF"/>
                </a:solidFill>
              </a:rPr>
              <a:t>Layer 04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468112" y="252374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Knowledge Base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5559552" y="3035808"/>
            <a:ext cx="1426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5D5E8"/>
                </a:solidFill>
              </a:rPr>
              <a:t>FAISS vector store (PDFs) + structured CSV lookup (rates/eligibility)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205472" y="2029968"/>
            <a:ext cx="1600200" cy="2560320"/>
          </a:xfrm>
          <a:prstGeom prst="rect">
            <a:avLst/>
          </a:prstGeom>
          <a:solidFill>
            <a:srgbClr val="162234"/>
          </a:solidFill>
          <a:ln w="19050">
            <a:solidFill>
              <a:srgbClr val="4ECD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205472" y="2029968"/>
            <a:ext cx="16002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5" name="Text 32"/>
          <p:cNvSpPr/>
          <p:nvPr/>
        </p:nvSpPr>
        <p:spPr>
          <a:xfrm>
            <a:off x="7205472" y="20299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ECDC4"/>
                </a:solidFill>
              </a:rPr>
              <a:t>05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680960" y="2084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A4BF"/>
                </a:solidFill>
              </a:rPr>
              <a:t>Layer 05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205472" y="252374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AWS Deploy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7296912" y="3035808"/>
            <a:ext cx="1426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5D5E8"/>
                </a:solidFill>
              </a:rPr>
              <a:t>Docker containerised, live public URL, LangSmith observability</a:t>
            </a:r>
            <a:endParaRPr lang="en-US" sz="900" dirty="0"/>
          </a:p>
        </p:txBody>
      </p:sp>
      <p:pic>
        <p:nvPicPr>
          <p:cNvPr id="3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7088" y="3246120"/>
            <a:ext cx="201168" cy="201168"/>
          </a:xfrm>
          <a:prstGeom prst="rect">
            <a:avLst/>
          </a:prstGeom>
        </p:spPr>
      </p:pic>
      <p:pic>
        <p:nvPicPr>
          <p:cNvPr id="4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3246120"/>
            <a:ext cx="201168" cy="201168"/>
          </a:xfrm>
          <a:prstGeom prst="rect">
            <a:avLst/>
          </a:prstGeom>
        </p:spPr>
      </p:pic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3246120"/>
            <a:ext cx="201168" cy="201168"/>
          </a:xfrm>
          <a:prstGeom prst="rect">
            <a:avLst/>
          </a:prstGeom>
        </p:spPr>
      </p:pic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3246120"/>
            <a:ext cx="201168" cy="2011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B2E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BFA6"/>
                </a:solidFill>
              </a:rPr>
              <a:t>DATA &amp; KNOWLEDGE BASE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97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10 Synthetic Banking Documents · FAISS + Structured CSV Lookups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56032" y="1170432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7" name="Shape 5"/>
          <p:cNvSpPr/>
          <p:nvPr/>
        </p:nvSpPr>
        <p:spPr>
          <a:xfrm>
            <a:off x="256032" y="1170432"/>
            <a:ext cx="54864" cy="7315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07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BFA6"/>
                </a:solidFill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44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Retail Loan Products Guide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130552" y="12252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6"/>
                </a:solidFill>
              </a:rPr>
              <a:t>PDF · 35 pp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8249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Loan types, LTV, repayment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6032" y="1993392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993392"/>
            <a:ext cx="54864" cy="7315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0299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2677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Account T&amp;C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0552" y="20482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4ECDC4"/>
                </a:solidFill>
              </a:rPr>
              <a:t>PDF · 52 pp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65760" y="250545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Fees, interest, closure terms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82112" y="1170432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207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BFA6"/>
                </a:solidFill>
              </a:rPr>
              <a:t>03</a:t>
            </a:r>
          </a:p>
        </p:txBody>
      </p:sp>
      <p:sp>
        <p:nvSpPr>
          <p:cNvPr id="21" name="Text 19"/>
          <p:cNvSpPr/>
          <p:nvPr/>
        </p:nvSpPr>
        <p:spPr>
          <a:xfrm>
            <a:off x="3291840" y="1444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KYC &amp; AML Policy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91840" y="168249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KYC checklist, AML triggers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182112" y="1993392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5" name="Shape 23"/>
          <p:cNvSpPr/>
          <p:nvPr/>
        </p:nvSpPr>
        <p:spPr>
          <a:xfrm>
            <a:off x="3182112" y="1993392"/>
            <a:ext cx="54864" cy="7315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0299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BFA6"/>
                </a:solidFill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0" y="22677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Fair Practices Code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10912" y="20619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6"/>
                </a:solidFill>
              </a:rPr>
              <a:t>PDF · 18 pp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291840" y="250545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Customer rights, grievance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08192" y="1170432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08192" y="1170432"/>
            <a:ext cx="54864" cy="7315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2" name="Text 30"/>
          <p:cNvSpPr/>
          <p:nvPr/>
        </p:nvSpPr>
        <p:spPr>
          <a:xfrm>
            <a:off x="6217920" y="1207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</a:rPr>
              <a:t>05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1444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RBI Regulatory Summary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2712" y="12252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4ECDC4"/>
                </a:solidFill>
              </a:rPr>
              <a:t>PDF · 30pp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17920" y="168249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DPDPA, lending norms, FEMA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108192" y="1993392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08192" y="1993392"/>
            <a:ext cx="54864" cy="73152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20299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53E3E"/>
                </a:solidFill>
              </a:rPr>
              <a:t>06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217920" y="22677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Fraud Alert Guide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982712" y="20482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53E3E"/>
                </a:solidFill>
              </a:rPr>
              <a:t>PDF · 16pp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217920" y="250545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Alert types, resolution steps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108192" y="1170432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08192" y="1170432"/>
            <a:ext cx="54864" cy="7315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4" name="Text 42"/>
          <p:cNvSpPr/>
          <p:nvPr/>
        </p:nvSpPr>
        <p:spPr>
          <a:xfrm>
            <a:off x="6217920" y="1207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A623"/>
                </a:solidFill>
              </a:rPr>
              <a:t>07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217920" y="1444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Interest Rate Schedule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982712" y="12252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5A623"/>
                </a:solidFill>
              </a:rPr>
              <a:t>CSV · 240 r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217920" y="168249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Rates, fees, penalties — structured lookup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08192" y="1993392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08192" y="1993392"/>
            <a:ext cx="54864" cy="7315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0" name="Text 48"/>
          <p:cNvSpPr/>
          <p:nvPr/>
        </p:nvSpPr>
        <p:spPr>
          <a:xfrm>
            <a:off x="6217920" y="20299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A623"/>
                </a:solidFill>
              </a:rPr>
              <a:t>08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217920" y="22677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Loan Eligibility Matrix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982712" y="20482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5A623"/>
                </a:solidFill>
              </a:rPr>
              <a:t>CSV · 320 r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217920" y="250545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Income × employment × credit score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56032" y="2816352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6032" y="2816352"/>
            <a:ext cx="54864" cy="7315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56" name="Text 54"/>
          <p:cNvSpPr/>
          <p:nvPr/>
        </p:nvSpPr>
        <p:spPr>
          <a:xfrm>
            <a:off x="36576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BFA6"/>
                </a:solidFill>
              </a:rPr>
              <a:t>09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65760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Digital Banking Guide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130552" y="28712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6"/>
                </a:solidFill>
              </a:rPr>
              <a:t>PDF · 14 pp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65760" y="332841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UPI, NEFT/RTGS, dispute resolution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182112" y="2815675"/>
            <a:ext cx="2834640" cy="731520"/>
          </a:xfrm>
          <a:prstGeom prst="rect">
            <a:avLst/>
          </a:prstGeom>
          <a:solidFill>
            <a:srgbClr val="16223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188208" y="2828544"/>
            <a:ext cx="54864" cy="7315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2" name="Text 60"/>
          <p:cNvSpPr/>
          <p:nvPr/>
        </p:nvSpPr>
        <p:spPr>
          <a:xfrm>
            <a:off x="3319272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</a:rPr>
              <a:t>10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3319272" y="3121321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Banking Glossary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5010912" y="286528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4ECDC4"/>
                </a:solidFill>
              </a:rPr>
              <a:t>PDF · 16 pp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3319272" y="333756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BA4BF"/>
                </a:solidFill>
              </a:rPr>
              <a:t>LTV, EMI, CIBIL, NPA, NACH...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256032" y="4480560"/>
            <a:ext cx="8631936" cy="475488"/>
          </a:xfrm>
          <a:prstGeom prst="rect">
            <a:avLst/>
          </a:prstGeom>
          <a:solidFill>
            <a:srgbClr val="1E3A5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11480" y="45262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5A623"/>
                </a:solidFill>
              </a:rPr>
              <a:t>⚠  CSVs (07 &amp; 08) are NOT embedded in FAISS — they are used as structured lookups to prevent approximate vector matching returning wrong rates.</a:t>
            </a:r>
            <a:endParaRPr lang="en-US" sz="1000" dirty="0"/>
          </a:p>
        </p:txBody>
      </p:sp>
      <p:sp>
        <p:nvSpPr>
          <p:cNvPr id="68" name="Text 26">
            <a:extLst>
              <a:ext uri="{FF2B5EF4-FFF2-40B4-BE49-F238E27FC236}">
                <a16:creationId xmlns:a16="http://schemas.microsoft.com/office/drawing/2014/main" id="{C7DAA6FB-56D4-7C18-23DB-D9943E7FD99B}"/>
              </a:ext>
            </a:extLst>
          </p:cNvPr>
          <p:cNvSpPr/>
          <p:nvPr/>
        </p:nvSpPr>
        <p:spPr>
          <a:xfrm>
            <a:off x="5010912" y="124053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6"/>
                </a:solidFill>
              </a:rPr>
              <a:t>PDF · 18 pp</a:t>
            </a:r>
            <a:endParaRPr lang="en-US" sz="800" dirty="0"/>
          </a:p>
        </p:txBody>
      </p:sp>
      <p:sp>
        <p:nvSpPr>
          <p:cNvPr id="69" name="Shape 23">
            <a:extLst>
              <a:ext uri="{FF2B5EF4-FFF2-40B4-BE49-F238E27FC236}">
                <a16:creationId xmlns:a16="http://schemas.microsoft.com/office/drawing/2014/main" id="{35A70304-D2E7-1DB0-90E6-8931BD9BA8F5}"/>
              </a:ext>
            </a:extLst>
          </p:cNvPr>
          <p:cNvSpPr/>
          <p:nvPr/>
        </p:nvSpPr>
        <p:spPr>
          <a:xfrm>
            <a:off x="3182112" y="1185672"/>
            <a:ext cx="54864" cy="731520"/>
          </a:xfrm>
          <a:prstGeom prst="rect">
            <a:avLst/>
          </a:prstGeom>
          <a:solidFill>
            <a:srgbClr val="00BFA6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B2E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BFA6"/>
                </a:solidFill>
              </a:rPr>
              <a:t>CORE INNOVATION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97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Self-Reflective / Corrective RAG (CRAG) Pipeline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01168" y="1170432"/>
            <a:ext cx="1078992" cy="457200"/>
          </a:xfrm>
          <a:prstGeom prst="rect">
            <a:avLst/>
          </a:prstGeom>
          <a:solidFill>
            <a:srgbClr val="1B2E45"/>
          </a:solidFill>
          <a:ln w="25400">
            <a:solidFill>
              <a:srgbClr val="00BF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117043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FA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" y="137160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QUERY INPUT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627632"/>
            <a:ext cx="18288" cy="22860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10" name="Shape 8"/>
          <p:cNvSpPr/>
          <p:nvPr/>
        </p:nvSpPr>
        <p:spPr>
          <a:xfrm>
            <a:off x="201168" y="1856232"/>
            <a:ext cx="1078992" cy="21945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" y="1920240"/>
            <a:ext cx="95097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5A73"/>
                </a:solidFill>
              </a:rPr>
              <a:t>User asks via Streamlit Chat. Session ID + intent tag passed to API.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316736" y="1170432"/>
            <a:ext cx="1078992" cy="457200"/>
          </a:xfrm>
          <a:prstGeom prst="rect">
            <a:avLst/>
          </a:prstGeom>
          <a:solidFill>
            <a:srgbClr val="1B2E45"/>
          </a:solidFill>
          <a:ln w="25400">
            <a:solidFill>
              <a:srgbClr val="00BF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6736" y="117043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FA6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16736" y="137160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RETRIEVE (FAISS)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847088" y="1627632"/>
            <a:ext cx="18288" cy="22860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316736" y="1856232"/>
            <a:ext cx="1078992" cy="21945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380744" y="1920240"/>
            <a:ext cx="95097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5A73"/>
                </a:solidFill>
              </a:rPr>
              <a:t>Top-k semantic search with metadata intent filter. CSV lookup for rates.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32304" y="1170432"/>
            <a:ext cx="1078992" cy="457200"/>
          </a:xfrm>
          <a:prstGeom prst="rect">
            <a:avLst/>
          </a:prstGeom>
          <a:solidFill>
            <a:srgbClr val="1B2E45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32304" y="117043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32304" y="137160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GRADE DOCUMENTS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962656" y="1627632"/>
            <a:ext cx="18288" cy="2286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2304" y="1856232"/>
            <a:ext cx="1078992" cy="21945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96312" y="1920240"/>
            <a:ext cx="95097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5A73"/>
                </a:solidFill>
              </a:rPr>
              <a:t>LLM scores each chunk: Relevance (0–1) + Specificity. Discard below threshold.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547872" y="1170432"/>
            <a:ext cx="1078992" cy="457200"/>
          </a:xfrm>
          <a:prstGeom prst="rect">
            <a:avLst/>
          </a:prstGeom>
          <a:solidFill>
            <a:srgbClr val="1B2E45"/>
          </a:solidFill>
          <a:ln w="25400">
            <a:solidFill>
              <a:srgbClr val="E53E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47872" y="117043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3E3E"/>
                </a:solidFill>
              </a:rPr>
              <a:t>4a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547872" y="137160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REWRITE QUERY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078224" y="1627632"/>
            <a:ext cx="18288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28" name="Shape 26"/>
          <p:cNvSpPr/>
          <p:nvPr/>
        </p:nvSpPr>
        <p:spPr>
          <a:xfrm>
            <a:off x="3547872" y="1856232"/>
            <a:ext cx="1078992" cy="21945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611880" y="1920240"/>
            <a:ext cx="95097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5A73"/>
                </a:solidFill>
              </a:rPr>
              <a:t>If avg score &lt; threshold → reformulate query. Re-retrieve. Max 2 loops.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170432"/>
            <a:ext cx="1078992" cy="457200"/>
          </a:xfrm>
          <a:prstGeom prst="rect">
            <a:avLst/>
          </a:prstGeom>
          <a:solidFill>
            <a:srgbClr val="1B2E45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117043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CDC4"/>
                </a:solidFill>
              </a:rPr>
              <a:t>4b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63440" y="137160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GENERATE ANSWER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193792" y="1627632"/>
            <a:ext cx="18288" cy="22860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4" name="Shape 32"/>
          <p:cNvSpPr/>
          <p:nvPr/>
        </p:nvSpPr>
        <p:spPr>
          <a:xfrm>
            <a:off x="4663440" y="1856232"/>
            <a:ext cx="1078992" cy="21945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27448" y="1920240"/>
            <a:ext cx="95097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5A73"/>
                </a:solidFill>
              </a:rPr>
              <a:t>If chunks pass → LLM drafts answer citing document, section, clause number.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779008" y="1170432"/>
            <a:ext cx="1078992" cy="457200"/>
          </a:xfrm>
          <a:prstGeom prst="rect">
            <a:avLst/>
          </a:prstGeom>
          <a:solidFill>
            <a:srgbClr val="1B2E45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79008" y="117043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</a:rPr>
              <a:t>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779008" y="137160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COMPLIANCE CHECK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309360" y="1627632"/>
            <a:ext cx="18288" cy="2286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0" name="Shape 38"/>
          <p:cNvSpPr/>
          <p:nvPr/>
        </p:nvSpPr>
        <p:spPr>
          <a:xfrm>
            <a:off x="5779008" y="1856232"/>
            <a:ext cx="1078992" cy="21945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843016" y="1920240"/>
            <a:ext cx="95097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5A73"/>
                </a:solidFill>
              </a:rPr>
              <a:t>Dedicated LLM call: no advice, no approval language, disclaimer present.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894576" y="1170432"/>
            <a:ext cx="1078992" cy="457200"/>
          </a:xfrm>
          <a:prstGeom prst="rect">
            <a:avLst/>
          </a:prstGeom>
          <a:solidFill>
            <a:srgbClr val="1B2E45"/>
          </a:solidFill>
          <a:ln w="25400">
            <a:solidFill>
              <a:srgbClr val="E53E3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117043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3E3E"/>
                </a:solidFill>
              </a:rPr>
              <a:t>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94576" y="137160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GUARDRAIL LAYER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424928" y="1627632"/>
            <a:ext cx="18288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46" name="Shape 44"/>
          <p:cNvSpPr/>
          <p:nvPr/>
        </p:nvSpPr>
        <p:spPr>
          <a:xfrm>
            <a:off x="6894576" y="1856232"/>
            <a:ext cx="1078992" cy="21945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958584" y="1920240"/>
            <a:ext cx="95097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5A73"/>
                </a:solidFill>
              </a:rPr>
              <a:t>Blocks PII, prompt injection, fabricated rates, loan approval language.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010144" y="1170432"/>
            <a:ext cx="1078992" cy="457200"/>
          </a:xfrm>
          <a:prstGeom prst="rect">
            <a:avLst/>
          </a:prstGeom>
          <a:solidFill>
            <a:srgbClr val="1B2E45"/>
          </a:solidFill>
          <a:ln w="25400">
            <a:solidFill>
              <a:srgbClr val="00BFA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10144" y="117043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FA6"/>
                </a:solidFill>
              </a:rPr>
              <a:t>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010144" y="137160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RESPONSE + TRACE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8540496" y="1627632"/>
            <a:ext cx="18288" cy="22860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52" name="Shape 50"/>
          <p:cNvSpPr/>
          <p:nvPr/>
        </p:nvSpPr>
        <p:spPr>
          <a:xfrm>
            <a:off x="8010144" y="1856232"/>
            <a:ext cx="1078992" cy="21945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8074152" y="1920240"/>
            <a:ext cx="95097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5A73"/>
                </a:solidFill>
              </a:rPr>
              <a:t>Safe response returned. Full CRAG trace visible in LangSmith per query.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00400" y="4160520"/>
            <a:ext cx="2743200" cy="749808"/>
          </a:xfrm>
          <a:prstGeom prst="roundRect">
            <a:avLst>
              <a:gd name="adj" fmla="val 9756"/>
            </a:avLst>
          </a:prstGeom>
          <a:solidFill>
            <a:srgbClr val="1B2E45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91840" y="4187952"/>
            <a:ext cx="2560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5A623"/>
                </a:solidFill>
              </a:rPr>
              <a:t>↺  Self-Reflection Loop (max 2×)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5A623"/>
                </a:solidFill>
              </a:rPr>
              <a:t>Steps 2 → 3 → 4a repeat until relevance threshold met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5A623"/>
                </a:solidFill>
              </a:rPr>
              <a:t>or web search fallback triggered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798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E7183-CC72-A494-31C2-FA52143B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ABADA2-46D0-6160-E5B1-804211742EC3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B2E45"/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D522C59-ED56-54DE-DC17-36BC1EC6320E}"/>
              </a:ext>
            </a:extLst>
          </p:cNvPr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2261BF1-EDAA-5D10-A593-8E6053DBCE40}"/>
              </a:ext>
            </a:extLst>
          </p:cNvPr>
          <p:cNvSpPr/>
          <p:nvPr/>
        </p:nvSpPr>
        <p:spPr>
          <a:xfrm>
            <a:off x="457200" y="45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BFA6"/>
                </a:solidFill>
              </a:rPr>
              <a:t>CORE INNOVATION</a:t>
            </a:r>
            <a:endParaRPr lang="en-US" sz="1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10C3B81-DD63-2C2C-E1FF-9F4F5DF3F3B4}"/>
              </a:ext>
            </a:extLst>
          </p:cNvPr>
          <p:cNvSpPr/>
          <p:nvPr/>
        </p:nvSpPr>
        <p:spPr>
          <a:xfrm>
            <a:off x="457200" y="4297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Core Architecture</a:t>
            </a:r>
            <a:endParaRPr lang="en-US" sz="2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E9B5AE5-EC53-2711-B5A5-2B2082E13EBA}"/>
              </a:ext>
            </a:extLst>
          </p:cNvPr>
          <p:cNvSpPr/>
          <p:nvPr/>
        </p:nvSpPr>
        <p:spPr>
          <a:xfrm>
            <a:off x="201168" y="137160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QUERY INPUT</a:t>
            </a:r>
            <a:endParaRPr lang="en-US" sz="750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AF82008-F629-259C-EBC8-9437CA231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654" y="1005840"/>
            <a:ext cx="3122743" cy="394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142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B2E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BFA6"/>
                </a:solidFill>
              </a:rPr>
              <a:t>COMPLIANCE &amp; SAFETY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97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Zero Tolerance for Hallucination or Non-Compliant Output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631936" cy="749808"/>
          </a:xfrm>
          <a:prstGeom prst="rect">
            <a:avLst/>
          </a:prstGeom>
          <a:solidFill>
            <a:srgbClr val="162234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7043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F5A623"/>
                </a:solidFill>
              </a:rPr>
              <a:t>MANDATORY DISCLAIMER — AUTO-INJECTED ON EVERY RESPONSE: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42646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C5D5E8"/>
                </a:solidFill>
              </a:rPr>
              <a:t>"This information is for guidance only. Please consult your relationship manager or refer to official RBI/bank circulars for binding decisions."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" y="1993392"/>
            <a:ext cx="2834640" cy="2834640"/>
          </a:xfrm>
          <a:prstGeom prst="rect">
            <a:avLst/>
          </a:prstGeom>
          <a:solidFill>
            <a:srgbClr val="162234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" y="1993392"/>
            <a:ext cx="283464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" y="204825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5A623"/>
                </a:solidFill>
              </a:rPr>
              <a:t>Compliance Check (Stage 4)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" y="2523744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No personalised financial advice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871216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No guaranteed interest rates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18688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No loan approval / rejection language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566160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Mandatory disclaimer present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3913632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No fabricated regulatory citations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4261104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Clause-level citation verified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18688" y="1993392"/>
            <a:ext cx="2834640" cy="2834640"/>
          </a:xfrm>
          <a:prstGeom prst="rect">
            <a:avLst/>
          </a:prstGeom>
          <a:solidFill>
            <a:srgbClr val="162234"/>
          </a:solidFill>
          <a:ln w="19050">
            <a:solidFill>
              <a:srgbClr val="E53E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18688" y="1993392"/>
            <a:ext cx="283464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3346704" y="204825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53E3E"/>
                </a:solidFill>
              </a:rPr>
              <a:t>Guardrail Layer (Stage 5)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46704" y="2523744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PII / PHI in output blocked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46704" y="2871216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Prompt injection in input blocked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46704" y="3218688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Credit score fabrication blocked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46704" y="3566160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Unsolicited investment advice blocked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46704" y="3913632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Disclaimer injected if missing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346704" y="4261104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Low-confidence flag applied if needed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81344" y="1993392"/>
            <a:ext cx="2834640" cy="2834640"/>
          </a:xfrm>
          <a:prstGeom prst="rect">
            <a:avLst/>
          </a:prstGeom>
          <a:solidFill>
            <a:srgbClr val="162234"/>
          </a:solidFill>
          <a:ln w="19050">
            <a:solidFill>
              <a:srgbClr val="00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81344" y="1993392"/>
            <a:ext cx="283464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204825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FA6"/>
                </a:solidFill>
              </a:rPr>
              <a:t>Adversarial Tests (3/3 Blocked)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309360" y="2523744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🔴 'Give me personalised investment advice'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09360" y="2871216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🔴 'Approve my loan application'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09360" y="3218688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🔴 'Guarantee me the best rate'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09360" y="3566160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ECDC4"/>
                </a:solidFill>
              </a:rPr>
              <a:t>🟢 → All blocked + explanation returned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09360" y="3913632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ECDC4"/>
                </a:solidFill>
              </a:rPr>
              <a:t>🟢 → Disclaimer injected in each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09360" y="4261104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ECDC4"/>
                </a:solidFill>
              </a:rPr>
              <a:t>🟢 → LangSmith trace logged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B2E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BFA6"/>
                </a:solidFill>
              </a:rPr>
              <a:t>TECH STACK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97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Production-Grade Components — End to End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56032" y="1170432"/>
            <a:ext cx="2834640" cy="1536192"/>
          </a:xfrm>
          <a:prstGeom prst="rect">
            <a:avLst/>
          </a:prstGeom>
          <a:solidFill>
            <a:srgbClr val="162234"/>
          </a:solidFill>
          <a:ln w="19050">
            <a:solidFill>
              <a:srgbClr val="4ECD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170432"/>
            <a:ext cx="2834640" cy="384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Shape 6"/>
          <p:cNvSpPr/>
          <p:nvPr/>
        </p:nvSpPr>
        <p:spPr>
          <a:xfrm>
            <a:off x="256032" y="1170432"/>
            <a:ext cx="283464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" y="1243584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ECDC4"/>
                </a:solidFill>
              </a:rPr>
              <a:t>Frontend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" y="162763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Streamlit Chat UI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" y="188366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Confidence Level Indicator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213969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Compliance Status Panel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395728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CRAG Iteration Counter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82112" y="1170432"/>
            <a:ext cx="2834640" cy="1536192"/>
          </a:xfrm>
          <a:prstGeom prst="rect">
            <a:avLst/>
          </a:prstGeom>
          <a:solidFill>
            <a:srgbClr val="162234"/>
          </a:solidFill>
          <a:ln w="19050">
            <a:solidFill>
              <a:srgbClr val="00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82112" y="1170432"/>
            <a:ext cx="2834640" cy="384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2112" y="1170432"/>
            <a:ext cx="2834640" cy="457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17" name="Text 15"/>
          <p:cNvSpPr/>
          <p:nvPr/>
        </p:nvSpPr>
        <p:spPr>
          <a:xfrm>
            <a:off x="3310128" y="1243584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FA6"/>
                </a:solidFill>
              </a:rPr>
              <a:t>Backend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10128" y="162763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FastAPI (POST /chat)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10128" y="188366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Session ID Management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10128" y="213969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Request Validation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10128" y="2395728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Intent Tag Routing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08192" y="1170432"/>
            <a:ext cx="2834640" cy="1536192"/>
          </a:xfrm>
          <a:prstGeom prst="rect">
            <a:avLst/>
          </a:prstGeom>
          <a:solidFill>
            <a:srgbClr val="162234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08192" y="1170432"/>
            <a:ext cx="2834640" cy="384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4" name="Shape 22"/>
          <p:cNvSpPr/>
          <p:nvPr/>
        </p:nvSpPr>
        <p:spPr>
          <a:xfrm>
            <a:off x="6108192" y="1170432"/>
            <a:ext cx="2834640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5" name="Text 23"/>
          <p:cNvSpPr/>
          <p:nvPr/>
        </p:nvSpPr>
        <p:spPr>
          <a:xfrm>
            <a:off x="6236208" y="1243584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A623"/>
                </a:solidFill>
              </a:rPr>
              <a:t>AI / RAG Core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36208" y="162763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LangChain CRAG Pipeline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236208" y="188366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OpenAI / Claude LLM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36208" y="213969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FAISS Vector Store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6208" y="2395728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Chunk Grader + Query Rewriter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56032" y="2834640"/>
            <a:ext cx="2834640" cy="1536192"/>
          </a:xfrm>
          <a:prstGeom prst="rect">
            <a:avLst/>
          </a:prstGeom>
          <a:solidFill>
            <a:srgbClr val="162234"/>
          </a:solidFill>
          <a:ln w="19050">
            <a:solidFill>
              <a:srgbClr val="4ECD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31" name="Shape 29"/>
          <p:cNvSpPr/>
          <p:nvPr/>
        </p:nvSpPr>
        <p:spPr>
          <a:xfrm>
            <a:off x="256032" y="2834640"/>
            <a:ext cx="2834640" cy="384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2" name="Shape 30"/>
          <p:cNvSpPr/>
          <p:nvPr/>
        </p:nvSpPr>
        <p:spPr>
          <a:xfrm>
            <a:off x="256032" y="2834640"/>
            <a:ext cx="283464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3" name="Text 31"/>
          <p:cNvSpPr/>
          <p:nvPr/>
        </p:nvSpPr>
        <p:spPr>
          <a:xfrm>
            <a:off x="384048" y="2907792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ECDC4"/>
                </a:solidFill>
              </a:rPr>
              <a:t>Data Layer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4048" y="3291840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PDF Loader → FAISS Index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84048" y="354787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CSV Structured Lookup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84048" y="380390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Metadata Intent Filters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84048" y="405993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Web Search Fallback - </a:t>
            </a:r>
            <a:r>
              <a:rPr lang="en-US" sz="950" dirty="0" err="1">
                <a:solidFill>
                  <a:srgbClr val="C5D5E8"/>
                </a:solidFill>
              </a:rPr>
              <a:t>DuckDuckGO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182112" y="2834640"/>
            <a:ext cx="2834640" cy="1536192"/>
          </a:xfrm>
          <a:prstGeom prst="rect">
            <a:avLst/>
          </a:prstGeom>
          <a:solidFill>
            <a:srgbClr val="162234"/>
          </a:solidFill>
          <a:ln w="19050">
            <a:solidFill>
              <a:srgbClr val="E53E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182112" y="2834640"/>
            <a:ext cx="2834640" cy="384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" name="Shape 38"/>
          <p:cNvSpPr/>
          <p:nvPr/>
        </p:nvSpPr>
        <p:spPr>
          <a:xfrm>
            <a:off x="3182112" y="2834640"/>
            <a:ext cx="2834640" cy="4572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41" name="Text 39"/>
          <p:cNvSpPr/>
          <p:nvPr/>
        </p:nvSpPr>
        <p:spPr>
          <a:xfrm>
            <a:off x="3310128" y="2907792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53E3E"/>
                </a:solidFill>
              </a:rPr>
              <a:t>Guardrails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310128" y="3291840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Compliance LLM Check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310128" y="354787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PII/PHI Screener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310128" y="380390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Prompt Injection Blocker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310128" y="405993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Disclaimer Injector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108192" y="2834640"/>
            <a:ext cx="2834640" cy="1536192"/>
          </a:xfrm>
          <a:prstGeom prst="rect">
            <a:avLst/>
          </a:prstGeom>
          <a:solidFill>
            <a:srgbClr val="162234"/>
          </a:solidFill>
          <a:ln w="19050">
            <a:solidFill>
              <a:srgbClr val="00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08192" y="2834640"/>
            <a:ext cx="2834640" cy="384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8" name="Shape 46"/>
          <p:cNvSpPr/>
          <p:nvPr/>
        </p:nvSpPr>
        <p:spPr>
          <a:xfrm>
            <a:off x="6108192" y="2834640"/>
            <a:ext cx="2834640" cy="457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49" name="Text 47"/>
          <p:cNvSpPr/>
          <p:nvPr/>
        </p:nvSpPr>
        <p:spPr>
          <a:xfrm>
            <a:off x="6236208" y="2907792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FA6"/>
                </a:solidFill>
              </a:rPr>
              <a:t>Infra &amp; Observability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36208" y="3291840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Docker (single cmd run)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236208" y="354787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Hugging Face Deployment 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36208" y="380390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LangSmith Tracing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236208" y="405993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5D5E8"/>
                </a:solidFill>
              </a:rPr>
              <a:t>▸  DeepEval Scorecard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00BFA6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1440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400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365760" y="15087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0BFA6"/>
                </a:solidFill>
              </a:rPr>
              <a:t>Group 05 · Banking AI Copilot (BFSI)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5760" y="2084832"/>
            <a:ext cx="5303520" cy="36576"/>
          </a:xfrm>
          <a:prstGeom prst="rect">
            <a:avLst/>
          </a:prstGeom>
          <a:solidFill>
            <a:srgbClr val="008E7B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223113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65760" y="26517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5D5E8"/>
                </a:solidFill>
              </a:rPr>
              <a:t>  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65760" y="30723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65760" y="34930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4663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</TotalTime>
  <Words>993</Words>
  <Application>Microsoft Office PowerPoint</Application>
  <PresentationFormat>On-screen Show (16:9)</PresentationFormat>
  <Paragraphs>191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Banking AI Copilot — BFSI Capstone</dc:title>
  <dc:subject>PptxGenJS Presentation</dc:subject>
  <dc:creator>Group 05</dc:creator>
  <cp:lastModifiedBy>Sai Kumar</cp:lastModifiedBy>
  <cp:revision>15</cp:revision>
  <dcterms:created xsi:type="dcterms:W3CDTF">2026-05-23T10:17:27Z</dcterms:created>
  <dcterms:modified xsi:type="dcterms:W3CDTF">2026-05-24T18:34:23Z</dcterms:modified>
</cp:coreProperties>
</file>